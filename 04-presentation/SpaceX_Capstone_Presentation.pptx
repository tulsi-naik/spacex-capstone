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4.xml" ContentType="application/vnd.openxmlformats-officedocument.drawingml.chart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FFFFFF"/>
                </a:solidFill>
                <a:latin typeface="Arial"/>
              </a:rPr>
              <a:t>Success Rate by Orbit Type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 Rate</c:v>
                </c:pt>
              </c:strCache>
            </c:strRef>
          </c:tx>
          <c:spPr>
            <a:solidFill>
              <a:srgbClr val="0077B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ES-L1</c:v>
                </c:pt>
                <c:pt idx="1">
                  <c:v>GEO</c:v>
                </c:pt>
                <c:pt idx="2">
                  <c:v>HEO</c:v>
                </c:pt>
                <c:pt idx="3">
                  <c:v>SSO</c:v>
                </c:pt>
                <c:pt idx="4">
                  <c:v>VLEO</c:v>
                </c:pt>
                <c:pt idx="5">
                  <c:v>ISS</c:v>
                </c:pt>
                <c:pt idx="6">
                  <c:v>MEO</c:v>
                </c:pt>
                <c:pt idx="7">
                  <c:v>LEO</c:v>
                </c:pt>
                <c:pt idx="8">
                  <c:v>GTO</c:v>
                </c:pt>
                <c:pt idx="9">
                  <c:v>PO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95</c:v>
                </c:pt>
                <c:pt idx="6">
                  <c:v>87</c:v>
                </c:pt>
                <c:pt idx="7">
                  <c:v>73</c:v>
                </c:pt>
                <c:pt idx="8">
                  <c:v>52</c:v>
                </c:pt>
                <c:pt idx="9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D23-40A7-8F67-101DB9A01E9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8F4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8F4F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F2044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IN" sz="1000" b="0" i="0" u="none" strike="noStrike">
                <a:solidFill>
                  <a:srgbClr val="FFFFFF"/>
                </a:solidFill>
                <a:latin typeface="Arial"/>
              </a:rPr>
              <a:t>Launches per Site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Launches</c:v>
                </c:pt>
              </c:strCache>
            </c:strRef>
          </c:tx>
          <c:spPr>
            <a:solidFill>
              <a:srgbClr val="0077B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DB8-4F86-8284-A965B9BF8AF2}"/>
              </c:ext>
            </c:extLst>
          </c:dPt>
          <c:dPt>
            <c:idx val="1"/>
            <c:invertIfNegative val="0"/>
            <c:bubble3D val="0"/>
            <c:spPr>
              <a:solidFill>
                <a:srgbClr val="0A93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DB8-4F86-8284-A965B9BF8AF2}"/>
              </c:ext>
            </c:extLst>
          </c:dPt>
          <c:dPt>
            <c:idx val="2"/>
            <c:invertIfNegative val="0"/>
            <c:bubble3D val="0"/>
            <c:spPr>
              <a:solidFill>
                <a:srgbClr val="94D2B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DB8-4F86-8284-A965B9BF8AF2}"/>
              </c:ext>
            </c:extLst>
          </c:dPt>
          <c:dPt>
            <c:idx val="3"/>
            <c:invertIfNegative val="0"/>
            <c:bubble3D val="0"/>
            <c:spPr>
              <a:solidFill>
                <a:srgbClr val="E9C46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DB8-4F86-8284-A965B9BF8AF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CCAFS LC-40</c:v>
                </c:pt>
                <c:pt idx="1">
                  <c:v>CCAFS SLC-40</c:v>
                </c:pt>
                <c:pt idx="2">
                  <c:v>KSC LC-39A</c:v>
                </c:pt>
                <c:pt idx="3">
                  <c:v>VAFB SLC-4E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</c:v>
                </c:pt>
                <c:pt idx="1">
                  <c:v>55</c:v>
                </c:pt>
                <c:pt idx="2">
                  <c:v>13</c:v>
                </c:pt>
                <c:pt idx="3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DB8-4F86-8284-A965B9BF8AF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E8F4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E8F4F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F2044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IN" sz="1000" b="0" i="0" u="none" strike="noStrike">
                <a:solidFill>
                  <a:srgbClr val="FFFFFF"/>
                </a:solidFill>
                <a:latin typeface="Arial"/>
              </a:rPr>
              <a:t>Yearly Landing Success Rate (%)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 Rate %</c:v>
                </c:pt>
              </c:strCache>
            </c:strRef>
          </c:tx>
          <c:spPr>
            <a:ln w="25400" cap="flat">
              <a:solidFill>
                <a:srgbClr val="00B4D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B4D8"/>
              </a:solidFill>
              <a:ln w="9525" cap="flat">
                <a:solidFill>
                  <a:srgbClr val="00B4D8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2010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  <c:pt idx="8">
                  <c:v>2020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27</c:v>
                </c:pt>
                <c:pt idx="4">
                  <c:v>38</c:v>
                </c:pt>
                <c:pt idx="5">
                  <c:v>58</c:v>
                </c:pt>
                <c:pt idx="6">
                  <c:v>76</c:v>
                </c:pt>
                <c:pt idx="7">
                  <c:v>86</c:v>
                </c:pt>
                <c:pt idx="8">
                  <c:v>92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3FCF-446E-A758-3E867E81C5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E8F4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E8F4F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F2044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FFFFFF"/>
                </a:solidFill>
                <a:latin typeface="Arial"/>
              </a:rPr>
              <a:t>Model Test Accuracy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 %</c:v>
                </c:pt>
              </c:strCache>
            </c:strRef>
          </c:tx>
          <c:spPr>
            <a:solidFill>
              <a:srgbClr val="0077B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77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3EB-4928-B8DC-71CAFF9D97C6}"/>
              </c:ext>
            </c:extLst>
          </c:dPt>
          <c:dPt>
            <c:idx val="1"/>
            <c:invertIfNegative val="0"/>
            <c:bubble3D val="0"/>
            <c:spPr>
              <a:solidFill>
                <a:srgbClr val="0077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3EB-4928-B8DC-71CAFF9D97C6}"/>
              </c:ext>
            </c:extLst>
          </c:dPt>
          <c:dPt>
            <c:idx val="2"/>
            <c:invertIfNegative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3EB-4928-B8DC-71CAFF9D97C6}"/>
              </c:ext>
            </c:extLst>
          </c:dPt>
          <c:dPt>
            <c:idx val="3"/>
            <c:invertIfNegative val="0"/>
            <c:bubble3D val="0"/>
            <c:spPr>
              <a:solidFill>
                <a:srgbClr val="6B728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3EB-4928-B8DC-71CAFF9D97C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Logistic Regression</c:v>
                </c:pt>
                <c:pt idx="1">
                  <c:v>Support Vector Machine</c:v>
                </c:pt>
                <c:pt idx="2">
                  <c:v>Decision Tree</c:v>
                </c:pt>
                <c:pt idx="3">
                  <c:v>K-Nearest Neighbors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83.33</c:v>
                </c:pt>
                <c:pt idx="1">
                  <c:v>83.33</c:v>
                </c:pt>
                <c:pt idx="2">
                  <c:v>83.33</c:v>
                </c:pt>
                <c:pt idx="3">
                  <c:v>77.78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3EB-4928-B8DC-71CAFF9D97C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E8F4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1270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E8F4F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F204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0388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tulsinaik/spacex-capstone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7132320" y="457200"/>
            <a:ext cx="1645920" cy="1645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228600"/>
            <a:ext cx="3200400" cy="34747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365760" y="2286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DATA SCIENCE PROFESSIONAL CERTIFICATE — CAPSTONE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365760" y="7315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365760" y="15544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Stage Landing Prediction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365760" y="2240280"/>
            <a:ext cx="4114800" cy="2743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23774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325880" y="2377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Tulsi Naik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572000" y="23774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532120" y="2377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Skills Network / Coursera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572000" y="288036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532120" y="28803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SQL · Folium · Plotly Dash · scikit-learn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365760" y="289179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</a:t>
            </a:r>
            <a:endParaRPr lang="en-US" sz="950" dirty="0"/>
          </a:p>
        </p:txBody>
      </p:sp>
      <p:sp>
        <p:nvSpPr>
          <p:cNvPr id="19" name="Text 16">
            <a:hlinkClick r:id="rId4"/>
          </p:cNvPr>
          <p:cNvSpPr/>
          <p:nvPr/>
        </p:nvSpPr>
        <p:spPr>
          <a:xfrm>
            <a:off x="1325880" y="2875789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u="sng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https://github.com/Tulsi-Naik/spacex-capstone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365760" y="491032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463040" cy="2286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83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OVERVIEW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1828800" cy="10058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005840"/>
            <a:ext cx="18288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90+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1543507"/>
            <a:ext cx="18288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Launches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14600" y="960120"/>
            <a:ext cx="1828800" cy="10058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14600" y="1005840"/>
            <a:ext cx="18288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514600" y="1543507"/>
            <a:ext cx="18288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Sites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960120"/>
            <a:ext cx="1828800" cy="10058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0" y="1005840"/>
            <a:ext cx="18288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572000" y="1543507"/>
            <a:ext cx="18288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Built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29400" y="960120"/>
            <a:ext cx="1828800" cy="10058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29400" y="1005840"/>
            <a:ext cx="18288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83.3%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629400" y="1543507"/>
            <a:ext cx="18288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103120"/>
            <a:ext cx="3840480" cy="26517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212848"/>
            <a:ext cx="320040" cy="32004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960120" y="22128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94360" y="260604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Falcon 9 first-stage landing success to estimate launch cost savings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charges $62M vs. competitors' $165M+; reuse is the key differentiator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rival bidders to forecast launch costs based on landing probability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end-to-end data science pipeline: collection → EDA → ML prediction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663440" y="2103120"/>
            <a:ext cx="4023360" cy="26517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212848"/>
            <a:ext cx="320040" cy="32004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166360" y="22128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4800600" y="2606040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KSC LC-39A had the highest launch success rate among all four sites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 improves with increasing flight number — experience matters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Orbits ES-L1, GEO, HEO, SSO achieved 100% success rates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&amp; SVM both achieved 83.3% accuracy on hold-out test set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F9 B5 booster showed strongest landing success correlation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463040" cy="2286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83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BACKGROUND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8229600" cy="9601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9692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26187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predict whether the Falcon 9 first stage will land successfully, enabling cost-competitive launch pricing analysis for alternative providers bidding against SpaceX?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029968"/>
            <a:ext cx="2651760" cy="27432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121408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32688" y="21214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94360" y="2514600"/>
            <a:ext cx="242316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REST API — rocket, payload, launchpad metadata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 web scrape — historical Falcon 9 launch records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Spacex.csv — 90+ Falcon 9/Heavy missions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Date, Launch Site, Payload Mass, Orbit, Booster Version, Landing Outcome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46120" y="2029968"/>
            <a:ext cx="2651760" cy="27432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848" y="2121408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721608" y="21214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383280" y="2514600"/>
            <a:ext cx="242316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data via SpaceX API &amp; web scraping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SQL + visual EDA to identify patterns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interactive Folium maps of launch sites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Plotly Dash analytical dashboard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compare ML classification models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035040" y="2029968"/>
            <a:ext cx="2651760" cy="27432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4768" y="2121408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510528" y="21214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172200" y="2514600"/>
            <a:ext cx="242316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(Pandas, NumPy, Matplotlib, Seaborn)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/ SQLite — structured data queries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Folium — interactive geographic mapping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Dash — interactive web dashboard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— ML model training &amp; evaluation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Wrangling Methodology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463040" cy="2286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83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LAB 1 &amp; 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1508760" cy="8229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960120"/>
            <a:ext cx="150876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API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Request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74520" y="1298448"/>
            <a:ext cx="182880" cy="640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960120"/>
            <a:ext cx="1508760" cy="8229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57400" y="960120"/>
            <a:ext cx="150876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66160" y="1298448"/>
            <a:ext cx="182880" cy="640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49040" y="960120"/>
            <a:ext cx="1508760" cy="8229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49040" y="960120"/>
            <a:ext cx="150876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257800" y="1298448"/>
            <a:ext cx="182880" cy="640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40680" y="960120"/>
            <a:ext cx="1508760" cy="8229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40680" y="960120"/>
            <a:ext cx="150876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49440" y="1298448"/>
            <a:ext cx="182880" cy="640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0" y="960120"/>
            <a:ext cx="1508760" cy="82296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132320" y="960120"/>
            <a:ext cx="150876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1920240"/>
            <a:ext cx="3931920" cy="29260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011680"/>
            <a:ext cx="301752" cy="301752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850392" y="2011680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Sources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02920" y="2377440"/>
            <a:ext cx="365760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REST API v4: rockets, launchpads, payloads, cores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 functions: getBoosterVersion(), getLaunchSite(), getPayloadData(), getCoreData()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GET requests via Python requests library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Wikipedia: List of Falcon 9 &amp; Falcon Heavy Launches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BeautifulSoup4 HTML parser to extract launch tables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into Pandas DataFrame (90 rows × 17 features)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617720" y="1920240"/>
            <a:ext cx="4069080" cy="29260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011680"/>
            <a:ext cx="301752" cy="30175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102352" y="2011680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Wrangling &amp; Preprocessing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4754880" y="2377440"/>
            <a:ext cx="379476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value analysis: PayloadMass, LandingPad had missing values — imputed with column mean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outcomes encoded: True/False × Ocean/RTLS/ASDS → binary Class (1=success, 0=failure)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4 launch sites: CCAFS LC-40, CCAFS SLC-40, KSC LC-39A, VAFB SLC-4E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types classified: LEO, GTO, ISS, SSO, VLEO, MEO, GEO, HEO, ES-L1, PO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applied for ML feature normalization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train-test split with random_state=2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Interactive Visual Analytics Methodology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463040" cy="2286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83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LABS 3–5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4114800" cy="18745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097280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0972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with Matplotlib &amp; Seaborn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2920" y="1463040"/>
            <a:ext cx="38404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catplot: FlightNumber vs LaunchSite, PayloadMass vs LaunchSite (hue=Class)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charts: success rate per orbit type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chart: yearly launch success trend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correlation heatmap for ML feature selection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09160" y="1005840"/>
            <a:ext cx="4114800" cy="18745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109728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66360" y="10972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SQL-Based EDA (SQLite)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846320" y="1463040"/>
            <a:ext cx="38404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SpaceX CSV into SQLite SPACEXTBL via ipython-sql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queries: COUNT, SUM, AVG, MIN, MAX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with LIKE, WHERE conditions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for outcome distributions &amp; year analysis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65760" y="3017520"/>
            <a:ext cx="4114800" cy="18745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3108960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" y="31089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Folium Interactive Maps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502920" y="3474720"/>
            <a:ext cx="38404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all 4 launch sites with CircleMarker (color = success/fail)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MarkerCluster plugin for dense launch point grouping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MousePosition plugin for real-time lat/lon display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PolyLine overlays for proximity distances to coast, rail, highway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709160" y="3017520"/>
            <a:ext cx="4114800" cy="18745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8888" y="3108960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166360" y="31089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Dash Dashboard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4846320" y="3474720"/>
            <a:ext cx="38404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Dropdown: filter by launch site (All / individual)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RangeSlider: filter Payload Mass 0–10,000 kg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 callback: success distribution per site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chart callback: payload vs. outcome colored by Booster Version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Analysis Methodology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463040" cy="2286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83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LAB 5 — ML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2606040" cy="8046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960120"/>
            <a:ext cx="260604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Load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dataset_part_2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part_3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960120"/>
            <a:ext cx="2606040" cy="8046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960120"/>
            <a:ext cx="260604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Extract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column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Y array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960120"/>
            <a:ext cx="2606040" cy="8046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960120"/>
            <a:ext cx="260604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StandardScaler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X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920240"/>
            <a:ext cx="2606040" cy="8046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1920240"/>
            <a:ext cx="260604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train_test_split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split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random_state=2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91840" y="1920240"/>
            <a:ext cx="2606040" cy="80467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91840" y="1920240"/>
            <a:ext cx="260604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GridSearchCV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cv=10 folds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1920240"/>
            <a:ext cx="2606040" cy="80467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26480" y="1920240"/>
            <a:ext cx="260604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Compare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Classifiers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Select Best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1965960" cy="17830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99923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0352" y="3383280"/>
            <a:ext cx="18196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∈ {0.01, 0.1, 1}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penalty: L2 (Ridge)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solver: lbfgs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606040" y="2926080"/>
            <a:ext cx="1965960" cy="17830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697480" y="299923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Machine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79192" y="3383280"/>
            <a:ext cx="18196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kernel: linear/rbf/poly/sigmoid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 logspace(−3,3,5)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gamma: logspace(−3,3,5)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2926080"/>
            <a:ext cx="1965960" cy="17830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46320" y="299923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Classifier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28032" y="3383280"/>
            <a:ext cx="18196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criterion: gini/entropy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max_depth: 2–18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min_samples_leaf: 1/2/4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903720" y="2926080"/>
            <a:ext cx="1965960" cy="17830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995160" y="299923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76872" y="3383280"/>
            <a:ext cx="18196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n_neighbors: 1–10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auto/ball_tree/kd_tree/brute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 1 or 2 (Manhattan/Euclidean)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47091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Accuracy score on 18 test samples + Confusion Matrix (seaborn heatmap)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Visualization Results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463040" cy="2286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83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LAB 3 RESULTS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57200" y="960120"/>
          <a:ext cx="50292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1"/>
          <p:cNvGraphicFramePr/>
          <p:nvPr/>
        </p:nvGraphicFramePr>
        <p:xfrm>
          <a:off x="5623560" y="960120"/>
          <a:ext cx="3383280" cy="1280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Chart 2"/>
          <p:cNvGraphicFramePr/>
          <p:nvPr/>
        </p:nvGraphicFramePr>
        <p:xfrm>
          <a:off x="5623560" y="2377440"/>
          <a:ext cx="338328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Shape 5"/>
          <p:cNvSpPr/>
          <p:nvPr/>
        </p:nvSpPr>
        <p:spPr>
          <a:xfrm>
            <a:off x="457200" y="3794760"/>
            <a:ext cx="5029200" cy="107899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6"/>
          <p:cNvSpPr/>
          <p:nvPr/>
        </p:nvSpPr>
        <p:spPr>
          <a:xfrm>
            <a:off x="594360" y="3840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594360" y="4133088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ES-L1, GEO, HEO, SSO, VLEO orbits achieved 100% success — highest-value missions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number strongly correlates with landing success — booster experience is crucial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VAFB SLC-4E had zero heavy-payload (&gt;10,000 kg) launches in dataset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with SQL Results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463040" cy="2286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83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LAB 4 — SQL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114800" cy="12344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" y="10332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— Unique Launch Sites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" y="1252728"/>
            <a:ext cx="3895344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30352" y="1280160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DISTINCT "Launch_Site" FROM SPACEXTBL;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75488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CCAFS LC-40 · CCAFS SLC-40 · KSC LC-39A · VAFB SLC-4E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9160" y="960120"/>
            <a:ext cx="4114800" cy="12344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18888" y="10332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— Total NASA (CRS) Payload Mass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818888" y="1252728"/>
            <a:ext cx="3895344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73752" y="1280160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SUM("PAYLOAD_MASS__KG_") AS Total_Payload_Mass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SPACEXTBL WHERE Customer = 'NASA (CRS)';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818888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45,596 kg total payload carried for NASA CRS missions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304288"/>
            <a:ext cx="4114800" cy="12344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" y="23774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 — First Successful Ground Pad Landing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" y="2596896"/>
            <a:ext cx="3895344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30352" y="2624328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MIN(Date) AS First_Successful_Landing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SPACEXTBL WHERE "Landing_Outcome" = 'Success (ground pad)';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5488" y="31272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2015-12-22 — First successful ground pad landing achieved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09160" y="2304288"/>
            <a:ext cx="4114800" cy="12344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18888" y="23774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6 — Boosters: Drone Ship + 4000–6000 kg Payload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18888" y="2596896"/>
            <a:ext cx="3895344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73752" y="2624328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DISTINCT "Booster_Version" FROM SPACEXTBL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"Landing_Outcome" = 'Success (drone ship)'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"PAYLOAD_MASS__KG_" BETWEEN 4000 AND 6000;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18888" y="31272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F9 FT B1022 · F9 FT B1026 · F9 FT  B1021.2 · F9 FT  B1031.2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3648456"/>
            <a:ext cx="4114800" cy="12344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5488" y="37216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7 — Mission Outcome Counts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" y="3941064"/>
            <a:ext cx="3895344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30352" y="3968496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"Mission_Outcome", COUNT(*) AS Outcome_Count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SPACEXTBL GROUP BY "Mission_Outcome";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5488" y="447141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Success: 98 · Failure (in flight): 1 · Success (payload status unclear): 1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09160" y="3648456"/>
            <a:ext cx="4114800" cy="12344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18888" y="37216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8 — Boosters with Max Payload Mass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18888" y="3941064"/>
            <a:ext cx="3895344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73752" y="3968496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DISTINCT "Booster_Version" FROM SPACEXTBL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"PAYLOAD_MASS__KG_" = (SELECT MAX("PAYLOAD_MASS__KG_") FROM SPACEXTBL);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818888" y="447141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F9 B5 B1048.4 · F9 B5 B1049.4 · F9 B5 B1051.3 · F9 B5 B1056.4 · F9 B5 B1048.5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Map Results — Folium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463040" cy="2286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83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LAB 5 — MAPS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5029200" cy="31089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24128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50392" y="102412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Launch Site Coordinates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89888"/>
          <a:ext cx="4846320" cy="169773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Launch Site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Latitude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Longitude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Location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F4FC"/>
                          </a:solidFill>
                        </a:rPr>
                        <a:t>CCAFS LC-40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F4FC"/>
                          </a:solidFill>
                        </a:rPr>
                        <a:t>28.5621°N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F4FC"/>
                          </a:solidFill>
                        </a:rPr>
                        <a:t>80.5774°W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F4FC"/>
                          </a:solidFill>
                        </a:rPr>
                        <a:t>Cape Canaveral, FL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F4FC"/>
                          </a:solidFill>
                        </a:rPr>
                        <a:t>CCAFS SLC-40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F4FC"/>
                          </a:solidFill>
                        </a:rPr>
                        <a:t>28.5620°N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F4FC"/>
                          </a:solidFill>
                        </a:rPr>
                        <a:t>80.5770°W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F4FC"/>
                          </a:solidFill>
                        </a:rPr>
                        <a:t>Cape Canaveral, FL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F4FC"/>
                          </a:solidFill>
                        </a:rPr>
                        <a:t>KSC LC-39A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F4FC"/>
                          </a:solidFill>
                        </a:rPr>
                        <a:t>28.6080°N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F4FC"/>
                          </a:solidFill>
                        </a:rPr>
                        <a:t>80.6040°W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F4FC"/>
                          </a:solidFill>
                        </a:rPr>
                        <a:t>Kennedy Space Center, FL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F4FC"/>
                          </a:solidFill>
                        </a:rPr>
                        <a:t>VAFB SLC-4E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F4FC"/>
                          </a:solidFill>
                        </a:rPr>
                        <a:t>34.6325°N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F4FC"/>
                          </a:solidFill>
                        </a:rPr>
                        <a:t>120.6108°W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F4FC"/>
                          </a:solidFill>
                        </a:rPr>
                        <a:t>Vandenberg AFB, CA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457200" y="3246120"/>
            <a:ext cx="48920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MarkerCluster — groups launches geographically at varying zoom levels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CircleMarker — green=success, red=failure, radius proportional to payload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MousePosition plugin — live lat/lon readout on cursor hover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PolyLine overlays — measured proximity distances to nearest coastline, railway, and highway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DivIcon labels — site name annotations directly on the map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577840" y="960120"/>
            <a:ext cx="3291840" cy="39776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5715000" y="102412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Insights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715000" y="1389888"/>
            <a:ext cx="301752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US launch sites cluster near coastlines — ocean safety corridor for booster descent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 Canaveral sites (FL) benefit from Earth's equatorial rotation speed boost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KSC LC-39A proximity to rail and road infrastructure enables rapid payload integration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VAFB SLC-4E (CA) favors polar &amp; SSO orbits due to southward trajectory over Pacific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sites located inland — ocean proximity is a hard safety and operational constraint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distance to coastline &lt; 1 km for all four active SpaceX sites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Dash Dashboard Results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463040" cy="2286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83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LAB 6 — DASHBOARD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pic>
        <p:nvPicPr>
          <p:cNvPr id="7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182188"/>
            <a:ext cx="4937760" cy="279087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4153987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1: Full dashboard — All Sites, payload 0–10,000 kg</a:t>
            </a:r>
            <a:endParaRPr lang="en-US" sz="850" dirty="0"/>
          </a:p>
        </p:txBody>
      </p:sp>
      <p:pic>
        <p:nvPicPr>
          <p:cNvPr id="9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40680" y="1140588"/>
            <a:ext cx="3566160" cy="123926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40680" y="27432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2: KSC LC-39A selected — payload with range between 2000 -6000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5440680" y="2971800"/>
            <a:ext cx="3566160" cy="190195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5577840" y="3017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Components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577840" y="3310128"/>
            <a:ext cx="33375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Dropdown: All Sites / CCAFS LC-40 / CCAFS SLC-40 / KSC LC-39A / VAFB SLC-4E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chart: total success by site (All) or success/fail ratio (per site)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RangeSlider: 0–10,000 kg payload mass filter with 1,000 kg step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Scatter: Payload Mass vs Class, colored by Booster Version Category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Analysis Results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463040" cy="2286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83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LAB 5 — ML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65760" y="960120"/>
          <a:ext cx="47548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3749040"/>
            <a:ext cx="4754880" cy="112471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858768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38587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 Decision Tree (tied)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02920" y="42519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top models achieved 83.33% accuracy (15/18 correct). Decision Tree selected for interpretability.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257800" y="960120"/>
            <a:ext cx="3520440" cy="391363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5394960" y="10241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— Decision Tree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5394959" y="3154680"/>
            <a:ext cx="3520439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Positives (TP): 12 — landed correctly predicted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Negatives (TN): 3 — no-land correctly predicted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(FP): 3 — predicted land, did not land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 (FN): 0 — no missed landing predictions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Precision: 80.0% | Recall: 100% | F1: 0.889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scored 77.78% — lowest due to 4 misclassifications</a:t>
            </a:r>
            <a:endParaRPr lang="en-US" sz="1050" dirty="0"/>
          </a:p>
        </p:txBody>
      </p:sp>
      <p:pic>
        <p:nvPicPr>
          <p:cNvPr id="16" name="Image 1">
            <a:extLst>
              <a:ext uri="{FF2B5EF4-FFF2-40B4-BE49-F238E27FC236}">
                <a16:creationId xmlns:a16="http://schemas.microsoft.com/office/drawing/2014/main" id="{A5D344D8-B629-C2C7-0756-DE6F20F193C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747657" y="1254870"/>
            <a:ext cx="1892594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463040" cy="2286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83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SUMMARY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4114800" cy="18288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05840"/>
            <a:ext cx="64008" cy="18288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972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50392" y="10972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Delivered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444752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end-to-end data science pipeline built from scratch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collected via API, web scraping, and CSV ingestion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EDA, visual EDA, Folium maps, and Dash dashboard all completed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ML classifiers trained, tuned, and evaluated with GridSearchCV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09160" y="1005840"/>
            <a:ext cx="4114800" cy="18288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09160" y="1005840"/>
            <a:ext cx="64008" cy="182880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109728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93792" y="10972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873752" y="1444752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Booster reuse experience (flight number) is the strongest success predictor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site geography directly constrains orbit types achievable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ES-L1, GEO, HEO missions all achieved 100% landing success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KSC LC-39A leads in success rate among all four active sites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65760" y="2971800"/>
            <a:ext cx="4114800" cy="18288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65760" y="2971800"/>
            <a:ext cx="64008" cy="18288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06324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50392" y="30632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30352" y="3410712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test accuracy: 83.33% (Logistic Regression, SVM, Decision Tree)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preferred for interpretability and feature visibility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test set (18 samples) limits statistical confidence — noted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outperform 50% baseline, confirming predictive signal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709160" y="2971800"/>
            <a:ext cx="4114800" cy="18288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709160" y="2971800"/>
            <a:ext cx="64008" cy="182880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3063240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193792" y="30632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4873752" y="3410712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dataset with 2021–2024 Starship and Falcon 9 flights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weather and sea-state features at launch time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ensemble methods (Random Forest, XGBoost) for higher accuracy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model as REST API to enable real-time cost estimation tool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365760" y="4709160"/>
            <a:ext cx="8412480" cy="29260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Text 22"/>
          <p:cNvSpPr/>
          <p:nvPr/>
        </p:nvSpPr>
        <p:spPr>
          <a:xfrm>
            <a:off x="457200" y="47365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capstone demonstrates a complete data science workflow: collection → wrangling → EDA → visualization → predictive modeling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1861</Words>
  <Application>Microsoft Office PowerPoint</Application>
  <PresentationFormat>On-screen Show (16:9)</PresentationFormat>
  <Paragraphs>274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SpaceX Falcon 9 First Stage Landing Prediction</dc:title>
  <dc:subject>PptxGenJS Presentation</dc:subject>
  <dc:creator>IBM Data Science Capstone</dc:creator>
  <cp:lastModifiedBy>tulasi naik</cp:lastModifiedBy>
  <cp:revision>4</cp:revision>
  <dcterms:created xsi:type="dcterms:W3CDTF">2026-05-18T08:17:56Z</dcterms:created>
  <dcterms:modified xsi:type="dcterms:W3CDTF">2026-05-18T10:33:12Z</dcterms:modified>
</cp:coreProperties>
</file>